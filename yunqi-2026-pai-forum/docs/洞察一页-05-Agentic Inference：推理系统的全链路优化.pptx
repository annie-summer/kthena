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Microsoft YaHei"/>
                <a:ea typeface="Microsoft YaHei"/>
              </a:rPr>
              <a:t>05 · 李文鹏 · 阿里云 PAI｜第 1/2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Microsoft YaHei"/>
                <a:ea typeface="Microsoft YaHei"/>
              </a:rPr>
              <a:t>从「Agentic Inference：推理系统的全链路优化」看阿里云 PAI 围绕有状态推理全链路优化的创新实践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11612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2529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一句话判断：Agent 多轮长上下文下，无状态 QPS 调度保不住前缀命中与 Token 成本；PAI 以 Session/Cache-Aware 调度叠加难度分流选模，把 KV 命中率做到约 79%、TTFT 降约 33%、TPS 约翻倍，并用 Auto 选模在质量提升同时把成本指数压到约 35%。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47088"/>
            <a:ext cx="3749039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920240"/>
            <a:ext cx="3529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1A2B"/>
                </a:solidFill>
                <a:latin typeface="Microsoft YaHei"/>
                <a:ea typeface="Microsoft YaHei"/>
              </a:rPr>
              <a:t>01  Agentic 负载四特征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212848"/>
            <a:ext cx="3529583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A1A1A"/>
                </a:solidFill>
                <a:latin typeface="Microsoft YaHei"/>
                <a:ea typeface="Microsoft YaHei"/>
              </a:rPr>
              <a:t>技术启示：调度 SLO 要从实例 QPS，切到 Session 命中与 Token 成本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长上下文：百→数万 Token；4K 请求 KV 可超 200MB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KV 高命中：多轮前缀重叠，命中率决定 TTFT/吞吐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Token 级规划：长请求成本远高于短请求，禁只用 QPS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有状态调度：同会话回原实例；伸缩须保持 KV 连续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1" y="1847088"/>
            <a:ext cx="3749039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1920240"/>
            <a:ext cx="3529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1A2B"/>
                </a:solidFill>
                <a:latin typeface="Microsoft YaHei"/>
                <a:ea typeface="Microsoft YaHei"/>
              </a:rPr>
              <a:t>02  三层架构 × 五层路由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2212848"/>
            <a:ext cx="3529583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A1A1A"/>
                </a:solidFill>
                <a:latin typeface="Microsoft YaHei"/>
                <a:ea typeface="Microsoft YaHei"/>
              </a:rPr>
              <a:t>技术启示：调度、执行、全局 KV 必须同代交付，单点引擎优化不够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调度层：统一 API、热更新治理、容错、智能择址、实例角色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执行层：全形态 PD、TP/EP/DP 感知、vLLM/SGLang/自定义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缓存层：DRAM+SSD 池、RDMA 直通、L1/L2/L3 命中可视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路由五层：入口→治理→容错→调度→Normal/P/D 实例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2" y="1847088"/>
            <a:ext cx="3749039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0" y="1920240"/>
            <a:ext cx="3529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1A2B"/>
                </a:solidFill>
                <a:latin typeface="Microsoft YaHei"/>
                <a:ea typeface="Microsoft YaHei"/>
              </a:rPr>
              <a:t>03  亲和调度 + 智能选模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0" y="2212848"/>
            <a:ext cx="3529583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A1A1A"/>
                </a:solidFill>
                <a:latin typeface="Microsoft YaHei"/>
                <a:ea typeface="Microsoft YaHei"/>
              </a:rPr>
              <a:t>技术启示：先保会话/前缀命中，再用难度分流固化质量-成本边界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Session-Aware(300)：strict/soft，过载熔断回退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Cache-Aware(200)：块哈希索引；Least-Token(0) 兜底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PD/DP Rank 差异化：P 追前缀，D 追负载，MoE 防局部过热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Auto 选模 L1/L2/L3：客户端写 auto，网关实例自动切候选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31596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关键指标对比与提升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517136"/>
            <a:ext cx="1874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4535424"/>
            <a:ext cx="174650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Cache 命中率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4700016"/>
            <a:ext cx="17465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Microsoft YaHei"/>
                <a:ea typeface="Microsoft YaHei"/>
              </a:rPr>
              <a:t>基线→Cache-Aware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4882896"/>
            <a:ext cx="174650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38.65%→78.62%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79" y="4517136"/>
            <a:ext cx="1874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13431" y="4535424"/>
            <a:ext cx="174650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TTFT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13431" y="4700016"/>
            <a:ext cx="17465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Microsoft YaHei"/>
                <a:ea typeface="Microsoft YaHei"/>
              </a:rPr>
              <a:t>Cache-Aware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13431" y="4882896"/>
            <a:ext cx="174650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-33.3%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38" y="4517136"/>
            <a:ext cx="1874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9390" y="4535424"/>
            <a:ext cx="174650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TPS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9390" y="4700016"/>
            <a:ext cx="17465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Microsoft YaHei"/>
                <a:ea typeface="Microsoft YaHei"/>
              </a:rPr>
              <a:t>Cache-Aware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0" y="4882896"/>
            <a:ext cx="174650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+100%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197" y="4517136"/>
            <a:ext cx="1874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5349" y="4535424"/>
            <a:ext cx="174650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选模质量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5349" y="4700016"/>
            <a:ext cx="17465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Microsoft YaHei"/>
                <a:ea typeface="Microsoft YaHei"/>
              </a:rPr>
              <a:t>纯L1→Auto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5349" y="4882896"/>
            <a:ext cx="174650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47.3%→82.7%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56" y="4517136"/>
            <a:ext cx="1874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08" y="4535424"/>
            <a:ext cx="174650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选模成本指数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08" y="4700016"/>
            <a:ext cx="17465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Microsoft YaHei"/>
                <a:ea typeface="Microsoft YaHei"/>
              </a:rPr>
              <a:t>纯L3→Auto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08" y="4882896"/>
            <a:ext cx="174650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100→35.1(-65%)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15" y="4517136"/>
            <a:ext cx="1874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77267" y="4535424"/>
            <a:ext cx="174650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流量承接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77267" y="4700016"/>
            <a:ext cx="17465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Microsoft YaHei"/>
                <a:ea typeface="Microsoft YaHei"/>
              </a:rPr>
              <a:t>L1+L2 占比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77267" y="4882896"/>
            <a:ext cx="174650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85%+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5431536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技术启示：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Microsoft YaHei"/>
                <a:ea typeface="Microsoft YaHei"/>
              </a:rPr>
              <a:t>• Session-Aware → Cache-Aware（前缀块哈希）→ Least-Token 三级择址：用会话黏性与 KV 前缀命中替代无状态 QPS 轮询，并把 TPM/Token 配额纳入调度约束。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Microsoft YaHei"/>
                <a:ea typeface="Microsoft YaHei"/>
              </a:rPr>
              <a:t>• 调度层（五层路由）× 执行层（全形态 PD / TP·EP·DP 感知）× 全局 KV（DRAM+SSD+RDMA）同代交付，L1/L2/L3 命中率进入观测与弹性闭环。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Microsoft YaHei"/>
                <a:ea typeface="Microsoft YaHei"/>
              </a:rPr>
              <a:t>• Auto 选模按 L1/L2/L3 难度分流：网关自动切模，旗舰只承接难题流量，实现质量与 Token 成本的联合优化。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来源：云栖大会｜阿里云 PAI《Agentic Inference：推理系统的全链路优化》· 覆盖第1–5章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Microsoft YaHei"/>
                <a:ea typeface="Microsoft YaHei"/>
              </a:rPr>
              <a:t>05 · 续 · 平台能力闭环｜第 2/2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115214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Microsoft YaHei"/>
                <a:ea typeface="Microsoft YaHei"/>
              </a:rPr>
              <a:t>从「联邦·可观测·治理·引擎·FlashKV·分发·机密计算」看 PAI 将 Agentic 推理做成可运营平台能力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11612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33856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一句话判断：有状态调度之上，PAI 把跨 Region 库存联邦、Token 计量闸门、可用性感知灰度与录制回放做成控制面默认能力，再用 FlashKV/CacheFS 把命中率推到约 94%、模型加载压到秒级，并以 TEE 远程证明把安全做成可验证执行。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3749039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810512"/>
            <a:ext cx="3529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1A2B"/>
                </a:solidFill>
                <a:latin typeface="Microsoft YaHei"/>
                <a:ea typeface="Microsoft YaHei"/>
              </a:rPr>
              <a:t>04  联邦·观测·流控·灰度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103120"/>
            <a:ext cx="3529583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A1A1A"/>
                </a:solidFill>
                <a:latin typeface="Microsoft YaHei"/>
                <a:ea typeface="Microsoft YaHei"/>
              </a:rPr>
              <a:t>技术启示：库存、计量、发布必须进入控制面，不能只做引擎侧优化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联邦：PRIMARY 全局 Watch；成员区按实例 ID 透明转发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观测：TTFT/TPOT/排队分位 + L1/L2/L3 命中 + 实例画像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流控：Coding/Token Plan；时段/并发/RPM·TPM/周期四闸门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灰度：权重即生命周期；可用性感知；PD 配对完整性校验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1" y="1737360"/>
            <a:ext cx="3749039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1810512"/>
            <a:ext cx="3529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1A2B"/>
                </a:solidFill>
                <a:latin typeface="Microsoft YaHei"/>
                <a:ea typeface="Microsoft YaHei"/>
              </a:rPr>
              <a:t>05  批量·回放·引擎 PD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2103120"/>
            <a:ext cx="3529583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A1A1A"/>
                </a:solidFill>
                <a:latin typeface="Microsoft YaHei"/>
                <a:ea typeface="Microsoft YaHei"/>
              </a:rPr>
              <a:t>技术启示：真实流量验收 + 全形态 PD 统一接入，才能压住发布风险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批量：≤5万行/200MB；高峰让路、夜间吃尽闲置 GPU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录制回放：字节级保真 + 原节奏；发布前用真实流量验收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PD 三模式：Prefill代理 / 网关调度 / Decode主导 全兼容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并行感知：P→TP；D→DP Rank；MoE 防局部过热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2" y="1737360"/>
            <a:ext cx="3749039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0" y="1810512"/>
            <a:ext cx="3529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1A2B"/>
                </a:solidFill>
                <a:latin typeface="Microsoft YaHei"/>
                <a:ea typeface="Microsoft YaHei"/>
              </a:rPr>
              <a:t>06  FlashKV·分发·机密计算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0" y="2103120"/>
            <a:ext cx="3529583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A1A1A"/>
                </a:solidFill>
                <a:latin typeface="Microsoft YaHei"/>
                <a:ea typeface="Microsoft YaHei"/>
              </a:rPr>
              <a:t>技术启示：缩容后命中与冷启时延，决定弹性是否真能省 GPU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FlashKV：引擎只留活跃 KV；DRAM/SSD + RDMA 零拷贝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命中再升：78.62%→94.32%；TTFT -25%；TPS +40%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CacheFS/CacheRoot：P2P+中心缓存，加载数十分钟→秒级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PAI-CC：本地加密上云→远程证明放行→TEE 内端到端密态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27939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平台能力关键指标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480560"/>
            <a:ext cx="1874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4498848"/>
            <a:ext cx="174650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FlashKV 命中率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4663440"/>
            <a:ext cx="17465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Microsoft YaHei"/>
                <a:ea typeface="Microsoft YaHei"/>
              </a:rPr>
              <a:t>叠加全局 KV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4846320"/>
            <a:ext cx="174650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78.62%→94.32%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79" y="4480560"/>
            <a:ext cx="1874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13431" y="4498848"/>
            <a:ext cx="174650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FlashKV TTFT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13431" y="4663440"/>
            <a:ext cx="17465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Microsoft YaHei"/>
                <a:ea typeface="Microsoft YaHei"/>
              </a:rPr>
              <a:t>相对前一阶段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13431" y="4846320"/>
            <a:ext cx="174650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-25%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38" y="4480560"/>
            <a:ext cx="1874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9390" y="4498848"/>
            <a:ext cx="174650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FlashKV TPS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9390" y="4663440"/>
            <a:ext cx="17465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Microsoft YaHei"/>
                <a:ea typeface="Microsoft YaHei"/>
              </a:rPr>
              <a:t>相对前一阶段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0" y="4846320"/>
            <a:ext cx="174650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+40%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197" y="4480560"/>
            <a:ext cx="1874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5349" y="4498848"/>
            <a:ext cx="174650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模型加载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5349" y="4663440"/>
            <a:ext cx="17465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Microsoft YaHei"/>
                <a:ea typeface="Microsoft YaHei"/>
              </a:rPr>
              <a:t>远端直读→分发加速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5349" y="4846320"/>
            <a:ext cx="174650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数十分钟→秒级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56" y="4480560"/>
            <a:ext cx="1874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08" y="4498848"/>
            <a:ext cx="174650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批量规格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08" y="4663440"/>
            <a:ext cx="17465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Microsoft YaHei"/>
                <a:ea typeface="Microsoft YaHei"/>
              </a:rPr>
              <a:t>单任务上限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08" y="4846320"/>
            <a:ext cx="174650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5万行 / 200MB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15" y="4480560"/>
            <a:ext cx="1874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77267" y="4498848"/>
            <a:ext cx="174650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安全形态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77267" y="4663440"/>
            <a:ext cx="17465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Microsoft YaHei"/>
                <a:ea typeface="Microsoft YaHei"/>
              </a:rPr>
              <a:t>承诺式→可验证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77267" y="4846320"/>
            <a:ext cx="174650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TEE+远程证明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358384"/>
            <a:ext cx="12191695" cy="1499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5394960"/>
            <a:ext cx="1152144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技术启示：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Microsoft YaHei"/>
                <a:ea typeface="Microsoft YaHei"/>
              </a:rPr>
              <a:t>• 跨 Region 联邦：PRIMARY 全局 Watch + 按实例 ID 透明转发，统一调度多地域库存；Token/Coding 以时段/并发/RPM·TPM/周期四维闸门写入准入。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Microsoft YaHei"/>
                <a:ea typeface="Microsoft YaHei"/>
              </a:rPr>
              <a:t>• 可用性感知灰度（权重即生命周期）+ PD 配对完整性校验；发布前用字节级保真录制回放做真实流量验收。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Microsoft YaHei"/>
                <a:ea typeface="Microsoft YaHei"/>
              </a:rPr>
              <a:t>• FlashKV 将活跃 KV 外置 DRAM/SSD（RDMA 零拷贝），CacheFS/P2P 做秒级权重分发；PAI-CC 以 TEE+远程证明完成可验证执行。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来源：云栖大会｜阿里云 PAI《Agentic Inference：推理系统的全链路优化》· 覆盖第6–15章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