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C9C6"/>
                </a:solidFill>
                <a:latin typeface="Microsoft YaHei"/>
                <a:ea typeface="Microsoft YaHei"/>
              </a:rPr>
              <a:t>04 · 王正恒 / 徐国强 · KVCache：从显存优化到软硬结合的推理基础设施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洞察：KVCache 已从框架技巧，升级为可调度的推理基础设施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E6F3F2"/>
          </a:solidFill>
          <a:ln w="12700">
            <a:solidFill>
              <a:srgbClr val="0C6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6E6A"/>
                </a:solidFill>
                <a:latin typeface="Microsoft YaHei"/>
                <a:ea typeface="Microsoft YaHei"/>
              </a:rPr>
              <a:t>一句话判断：把 KV 当资产——控制面管放置/生命周期，数据面做分层池化；无仿真就没有可规模化的 SLO/TCO。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03320" cy="384048"/>
          </a:xfrm>
          <a:prstGeom prst="rect">
            <a:avLst/>
          </a:prstGeom>
          <a:solidFill>
            <a:srgbClr val="0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01  三跃迁：资产化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50007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从显存开销 → 可复用推理资产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前缀命中：跳过 Prefill，降 TTFT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Agentic 多轮：KV 跨轮持久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跨实例池化：容量与计算解耦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KV Aware Routing 感知放置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874519"/>
            <a:ext cx="3703320" cy="384048"/>
          </a:xfrm>
          <a:prstGeom prst="rect">
            <a:avLst/>
          </a:prstGeom>
          <a:solidFill>
            <a:srgbClr val="0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476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02  分层栈：破存储墙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50007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G1→G4 是标配，不是可选项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G1 HBM / G1.5 UMX·AMES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G2 DRAM / G2.5 CXL·RDMA 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G3 SSD / G3.5 EBoF / G4 对象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UMX：UALink+CXL Load/Store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74519"/>
            <a:ext cx="3703320" cy="384048"/>
          </a:xfrm>
          <a:prstGeom prst="rect">
            <a:avLst/>
          </a:prstGeom>
          <a:solidFill>
            <a:srgbClr val="0C6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47671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03  决策：仿真驱动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350007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经验调参 → HiSim Pareto/SLO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KVCM 控制面 + MemPool 数据面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带宽/容量/寿命三约束取最大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Token 级 TCO 进入平台指标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B6A"/>
                </a:solidFill>
                <a:latin typeface="Microsoft YaHei"/>
                <a:ea typeface="Microsoft YaHei"/>
              </a:rPr>
              <a:t>• 与 CIPU/引擎纵向对齐 L1–L4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63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83C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offload 吞吐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未池化 → MemPool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+50%+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552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5552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182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TTFT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182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未 offload → 池化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182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-30%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9100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9100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730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传输效率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730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多网卡数据面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730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93%+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Token TCO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DRAM 为主 → 分层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降幅&gt;80%*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196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196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826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HiSim 误差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826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经验配置 → 仿真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826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&lt;3%*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97440" y="4937760"/>
            <a:ext cx="1844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97440" y="4937760"/>
            <a:ext cx="73152" cy="8686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3744" y="4992624"/>
            <a:ext cx="1642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B6A"/>
                </a:solidFill>
                <a:latin typeface="Microsoft YaHei"/>
                <a:ea typeface="Microsoft YaHei"/>
              </a:rPr>
              <a:t>分层形态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3744" y="5193792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83C"/>
                </a:solidFill>
                <a:latin typeface="Microsoft YaHei"/>
                <a:ea typeface="Microsoft YaHei"/>
              </a:rPr>
              <a:t>单机 HBM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3744" y="5449824"/>
            <a:ext cx="1642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G1–G4 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961888"/>
            <a:ext cx="11521440" cy="6858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0350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可落地动作：把命中率 / TTFT / $/Token 写入平台 SLO；用 workload 仿真选型 CXL/SSD/EBoF；打通 KVCM 与引擎路由。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276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C9C6"/>
                </a:solidFill>
                <a:latin typeface="Microsoft YaHei"/>
                <a:ea typeface="Microsoft YaHei"/>
              </a:rPr>
              <a:t>*为演讲幻灯宣称口径  ·  来源：云栖大会 agendaId=164 · Talk 04 王正恒 / 徐国强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