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C6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8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46304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BC9C6"/>
                </a:solidFill>
                <a:latin typeface="Microsoft YaHei"/>
                <a:ea typeface="Microsoft YaHei"/>
              </a:rPr>
              <a:t>08 · 李文韬 · 未来大模型推理的软硬件结合系统架构探索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420624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Microsoft YaHei"/>
                <a:ea typeface="Microsoft YaHei"/>
              </a:rPr>
              <a:t>洞察：先拆分，再堆料；先仿真，再到柜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207008"/>
            <a:ext cx="11521440" cy="502920"/>
          </a:xfrm>
          <a:prstGeom prst="rect">
            <a:avLst/>
          </a:prstGeom>
          <a:solidFill>
            <a:srgbClr val="E6F3F2"/>
          </a:solidFill>
          <a:ln w="12700">
            <a:solidFill>
              <a:srgbClr val="0C6E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280160"/>
            <a:ext cx="11247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C6E6A"/>
                </a:solidFill>
                <a:latin typeface="Microsoft YaHei"/>
                <a:ea typeface="Microsoft YaHei"/>
              </a:rPr>
              <a:t>一句话判断：P/D + AFD 让 Attention/KV 与 FFN/Expert 各得其所；无高保真仿真，A/F 配比无法在到货前收敛。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874519"/>
            <a:ext cx="3703320" cy="2606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20040" y="1874519"/>
            <a:ext cx="3703320" cy="384048"/>
          </a:xfrm>
          <a:prstGeom prst="rect">
            <a:avLst/>
          </a:prstGeom>
          <a:solidFill>
            <a:srgbClr val="0C6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1947671"/>
            <a:ext cx="3429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</a:rPr>
              <a:t>01  错配：为何要拆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" y="2350007"/>
            <a:ext cx="338328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4283C"/>
                </a:solidFill>
                <a:latin typeface="Microsoft YaHei"/>
                <a:ea typeface="Microsoft YaHei"/>
              </a:rPr>
              <a:t>模型与硬件不同步增长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4A5B6A"/>
                </a:solidFill>
                <a:latin typeface="Microsoft YaHei"/>
                <a:ea typeface="Microsoft YaHei"/>
              </a:rPr>
              <a:t>• 上下文：128K → ~1M 级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4A5B6A"/>
                </a:solidFill>
                <a:latin typeface="Microsoft YaHei"/>
                <a:ea typeface="Microsoft YaHei"/>
              </a:rPr>
              <a:t>• MoE：总参可 2.8T / 激活~95B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4A5B6A"/>
                </a:solidFill>
                <a:latin typeface="Microsoft YaHei"/>
                <a:ea typeface="Microsoft YaHei"/>
              </a:rPr>
              <a:t>• Prefill / Attn / FFN 画像各异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4A5B6A"/>
                </a:solidFill>
                <a:latin typeface="Microsoft YaHei"/>
                <a:ea typeface="Microsoft YaHei"/>
              </a:rPr>
              <a:t>• 单卡堆料无法对齐三阶段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6240" y="1874519"/>
            <a:ext cx="3703320" cy="2606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06240" y="1874519"/>
            <a:ext cx="3703320" cy="384048"/>
          </a:xfrm>
          <a:prstGeom prst="rect">
            <a:avLst/>
          </a:prstGeom>
          <a:solidFill>
            <a:srgbClr val="0C6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43400" y="1947671"/>
            <a:ext cx="3429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</a:rPr>
              <a:t>02  拆分：P/D + AFD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70832" y="2350007"/>
            <a:ext cx="338328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4283C"/>
                </a:solidFill>
                <a:latin typeface="Microsoft YaHei"/>
                <a:ea typeface="Microsoft YaHei"/>
              </a:rPr>
              <a:t>阶段级 + 层内算子级可组合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4A5B6A"/>
                </a:solidFill>
                <a:latin typeface="Microsoft YaHei"/>
                <a:ea typeface="Microsoft YaHei"/>
              </a:rPr>
              <a:t>• P/D：Prefill 与 Decode 解耦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4A5B6A"/>
                </a:solidFill>
                <a:latin typeface="Microsoft YaHei"/>
                <a:ea typeface="Microsoft YaHei"/>
              </a:rPr>
              <a:t>• AFD：Attention 池 ↔ Expert 池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4A5B6A"/>
                </a:solidFill>
                <a:latin typeface="Microsoft YaHei"/>
                <a:ea typeface="Microsoft YaHei"/>
              </a:rPr>
              <a:t>• A 卡：大 HBM + 高 KV 带宽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4A5B6A"/>
                </a:solidFill>
                <a:latin typeface="Microsoft YaHei"/>
                <a:ea typeface="Microsoft YaHei"/>
              </a:rPr>
              <a:t>• F 卡：LPU 矩阵 + 高权重带宽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92440" y="1874519"/>
            <a:ext cx="3703320" cy="2606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92440" y="1874519"/>
            <a:ext cx="3703320" cy="384048"/>
          </a:xfrm>
          <a:prstGeom prst="rect">
            <a:avLst/>
          </a:prstGeom>
          <a:solidFill>
            <a:srgbClr val="0C6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0" y="1947671"/>
            <a:ext cx="3429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</a:rPr>
              <a:t>03  前移：Insight/Hisim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7032" y="2350007"/>
            <a:ext cx="338328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4283C"/>
                </a:solidFill>
                <a:latin typeface="Microsoft YaHei"/>
                <a:ea typeface="Microsoft YaHei"/>
              </a:rPr>
              <a:t>无实物仿真成为导入标配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4A5B6A"/>
                </a:solidFill>
                <a:latin typeface="Microsoft YaHei"/>
                <a:ea typeface="Microsoft YaHei"/>
              </a:rPr>
              <a:t>• 保留 SGLang 调度/组批逻辑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4A5B6A"/>
                </a:solidFill>
                <a:latin typeface="Microsoft YaHei"/>
                <a:ea typeface="Microsoft YaHei"/>
              </a:rPr>
              <a:t>• 虚拟时钟替代真实 Forward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4A5B6A"/>
                </a:solidFill>
                <a:latin typeface="Microsoft YaHei"/>
                <a:ea typeface="Microsoft YaHei"/>
              </a:rPr>
              <a:t>• 整体准确率 96%+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4A5B6A"/>
                </a:solidFill>
                <a:latin typeface="Microsoft YaHei"/>
                <a:ea typeface="Microsoft YaHei"/>
              </a:rPr>
              <a:t>• 开源合入 → AFD PR → POC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0040" y="4663440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283C"/>
                </a:solidFill>
                <a:latin typeface="Microsoft YaHei"/>
                <a:ea typeface="Microsoft YaHei"/>
              </a:rPr>
              <a:t>关键指标对比与提升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4937760"/>
            <a:ext cx="184404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20040" y="4937760"/>
            <a:ext cx="73152" cy="868680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6344" y="4992624"/>
            <a:ext cx="164287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A5B6A"/>
                </a:solidFill>
                <a:latin typeface="Microsoft YaHei"/>
                <a:ea typeface="Microsoft YaHei"/>
              </a:rPr>
              <a:t>上下文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6344" y="5193792"/>
            <a:ext cx="164287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4283C"/>
                </a:solidFill>
                <a:latin typeface="Microsoft YaHei"/>
                <a:ea typeface="Microsoft YaHei"/>
              </a:rPr>
              <a:t>128K → ~1M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6344" y="5449824"/>
            <a:ext cx="164287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45C26"/>
                </a:solidFill>
                <a:latin typeface="Microsoft YaHei"/>
                <a:ea typeface="Microsoft YaHei"/>
              </a:rPr>
              <a:t>长上下文压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255520" y="4937760"/>
            <a:ext cx="184404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2255520" y="4937760"/>
            <a:ext cx="73152" cy="868680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401824" y="4992624"/>
            <a:ext cx="164287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A5B6A"/>
                </a:solidFill>
                <a:latin typeface="Microsoft YaHei"/>
                <a:ea typeface="Microsoft YaHei"/>
              </a:rPr>
              <a:t>MoE 形态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401824" y="5193792"/>
            <a:ext cx="164287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4283C"/>
                </a:solidFill>
                <a:latin typeface="Microsoft YaHei"/>
                <a:ea typeface="Microsoft YaHei"/>
              </a:rPr>
              <a:t>2.8T / 激活~95B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401824" y="5449824"/>
            <a:ext cx="164287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45C26"/>
                </a:solidFill>
                <a:latin typeface="Microsoft YaHei"/>
                <a:ea typeface="Microsoft YaHei"/>
              </a:rPr>
              <a:t>稀激活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91000" y="4937760"/>
            <a:ext cx="184404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191000" y="4937760"/>
            <a:ext cx="73152" cy="868680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337304" y="4992624"/>
            <a:ext cx="164287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A5B6A"/>
                </a:solidFill>
                <a:latin typeface="Microsoft YaHei"/>
                <a:ea typeface="Microsoft YaHei"/>
              </a:rPr>
              <a:t>LPU 极端点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37304" y="5193792"/>
            <a:ext cx="164287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4283C"/>
                </a:solidFill>
                <a:latin typeface="Microsoft YaHei"/>
                <a:ea typeface="Microsoft YaHei"/>
              </a:rPr>
              <a:t>高带宽低容量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337304" y="5449824"/>
            <a:ext cx="164287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45C26"/>
                </a:solidFill>
                <a:latin typeface="Microsoft YaHei"/>
                <a:ea typeface="Microsoft YaHei"/>
              </a:rPr>
              <a:t>FFN 侧位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26480" y="4937760"/>
            <a:ext cx="184404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126480" y="4937760"/>
            <a:ext cx="73152" cy="868680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272784" y="4992624"/>
            <a:ext cx="164287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A5B6A"/>
                </a:solidFill>
                <a:latin typeface="Microsoft YaHei"/>
                <a:ea typeface="Microsoft YaHei"/>
              </a:rPr>
              <a:t>Hisim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72784" y="5193792"/>
            <a:ext cx="164287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4283C"/>
                </a:solidFill>
                <a:latin typeface="Microsoft YaHei"/>
                <a:ea typeface="Microsoft YaHei"/>
              </a:rPr>
              <a:t>无实物选型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272784" y="5449824"/>
            <a:ext cx="164287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45C26"/>
                </a:solidFill>
                <a:latin typeface="Microsoft YaHei"/>
                <a:ea typeface="Microsoft YaHei"/>
              </a:rPr>
              <a:t>96%+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061960" y="4937760"/>
            <a:ext cx="184404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8061960" y="4937760"/>
            <a:ext cx="73152" cy="868680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208264" y="4992624"/>
            <a:ext cx="164287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A5B6A"/>
                </a:solidFill>
                <a:latin typeface="Microsoft YaHei"/>
                <a:ea typeface="Microsoft YaHei"/>
              </a:rPr>
              <a:t>架构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208264" y="5193792"/>
            <a:ext cx="164287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4283C"/>
                </a:solidFill>
                <a:latin typeface="Microsoft YaHei"/>
                <a:ea typeface="Microsoft YaHei"/>
              </a:rPr>
              <a:t>同构堆叠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08264" y="5449824"/>
            <a:ext cx="164287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45C26"/>
                </a:solidFill>
                <a:latin typeface="Microsoft YaHei"/>
                <a:ea typeface="Microsoft YaHei"/>
              </a:rPr>
              <a:t>P/D+AFD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997440" y="4937760"/>
            <a:ext cx="184404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9997440" y="4937760"/>
            <a:ext cx="73152" cy="868680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0143744" y="4992624"/>
            <a:ext cx="164287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A5B6A"/>
                </a:solidFill>
                <a:latin typeface="Microsoft YaHei"/>
                <a:ea typeface="Microsoft YaHei"/>
              </a:rPr>
              <a:t>落地路径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143744" y="5193792"/>
            <a:ext cx="164287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4283C"/>
                </a:solidFill>
                <a:latin typeface="Microsoft YaHei"/>
                <a:ea typeface="Microsoft YaHei"/>
              </a:rPr>
              <a:t>仿真→PR→POC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143744" y="5449824"/>
            <a:ext cx="164287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45C26"/>
                </a:solidFill>
                <a:latin typeface="Microsoft YaHei"/>
                <a:ea typeface="Microsoft YaHei"/>
              </a:rPr>
              <a:t>先仿真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20040" y="5961888"/>
            <a:ext cx="11521440" cy="685800"/>
          </a:xfrm>
          <a:prstGeom prst="rect">
            <a:avLst/>
          </a:prstGeom>
          <a:solidFill>
            <a:srgbClr val="1428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57200" y="6035040"/>
            <a:ext cx="11247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Microsoft YaHei"/>
                <a:ea typeface="Microsoft YaHei"/>
              </a:rPr>
              <a:t>可落地动作：并行推进拆分架构与仿真器；跟踪 HiSim/AFD 开源合入；用业务模型先跑配比，再定超节点与 A/F 采购。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7200" y="6327648"/>
            <a:ext cx="11247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BC9C6"/>
                </a:solidFill>
                <a:latin typeface="Microsoft YaHei"/>
                <a:ea typeface="Microsoft YaHei"/>
              </a:rPr>
              <a:t>来源：云栖大会 agendaId=164 · Talk 08 李文韬  ·  与 Talk04/06/07 形成「分层 + 超节点 + 全栈 + 拆分」闭环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