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9BC9C6"/>
                </a:solidFill>
                <a:latin typeface="Microsoft YaHei"/>
                <a:ea typeface="Microsoft YaHei"/>
              </a:rPr>
              <a:t>2026 云栖大会 · Agentic AI 算力与存储论坛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8912"/>
            <a:ext cx="11430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洞察：瓶颈已从「堆卡」转向「拆分 · 分层 · 卸载 · 平台化」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521440" cy="502920"/>
          </a:xfrm>
          <a:prstGeom prst="rect">
            <a:avLst/>
          </a:prstGeom>
          <a:solidFill>
            <a:srgbClr val="E6F3F2"/>
          </a:solidFill>
          <a:ln w="12700">
            <a:solidFill>
              <a:srgbClr val="0C6E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98448"/>
            <a:ext cx="112471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C6E6A"/>
                </a:solidFill>
                <a:latin typeface="Microsoft YaHei"/>
                <a:ea typeface="Microsoft YaHei"/>
              </a:rPr>
              <a:t>一句话判断：Agentic AI 让系统胜负手变成 安全隔离 + KV/记忆路径 + 调度成熟度 + 架构拆分；堆算力收益递减。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20240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20240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3429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01  瓶颈迁移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42316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从 GPU 峰值算力 → 数据访问 / 记忆 / 安全 / 调度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算力廉价、访存昂贵（CIPU）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停得久 ≠ 价值低（Agentic KV）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微秒尺度看 kernel 之间（Mega Kernel）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运维先建评测床，再谈智能体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920240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920240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993392"/>
            <a:ext cx="3429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02  分层与拆分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242316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垂直分层 + 水平拆分，替代单卡堆料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KV：G1 HBM → UMX/CXL → SSD/EBoF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存储：按训练/推理/Agentic 分温度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架构：P/D + AFD（A卡 / LPU F卡）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控制面与数据面必须拆开演进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920240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920240"/>
            <a:ext cx="3703320" cy="384048"/>
          </a:xfrm>
          <a:prstGeom prst="rect">
            <a:avLst/>
          </a:prstGeom>
          <a:solidFill>
            <a:srgbClr val="0C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93392"/>
            <a:ext cx="3429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03  平台化工程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42316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把专家手艺变成可复制系统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震旦：交付 / 仿真 / 诊断闭环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HiSim/Insight：选型前移（96%+）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Kernel Agent：跨芯算子自动供给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4A5B6A"/>
                </a:solidFill>
                <a:latin typeface="Microsoft YaHei"/>
                <a:ea typeface="Microsoft YaHei"/>
              </a:rPr>
              <a:t>• Infini-AIOps：工单时长约 -91%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70916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14283C"/>
                </a:solidFill>
                <a:latin typeface="Microsoft YaHei"/>
                <a:ea typeface="Microsoft YaHei"/>
              </a:rPr>
              <a:t>关键指标对比（可直接做对比页）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98348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5056632"/>
            <a:ext cx="1600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运维时长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" y="5257800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5.5h → 0.47h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513832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5C26"/>
                </a:solidFill>
                <a:latin typeface="Microsoft YaHei"/>
                <a:ea typeface="Microsoft YaHei"/>
              </a:rPr>
              <a:t>-91%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49834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58568" y="498348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5056632"/>
            <a:ext cx="1600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KV 吞吐 / TTFT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5257800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+50%+ / -30%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5513832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5C26"/>
                </a:solidFill>
                <a:latin typeface="Microsoft YaHei"/>
                <a:ea typeface="Microsoft YaHei"/>
              </a:rPr>
              <a:t>MemPool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97096" y="49834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97096" y="498348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5056632"/>
            <a:ext cx="1600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AL144 vs 128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1688" y="5257800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卡数·功率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5513832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5C26"/>
                </a:solidFill>
                <a:latin typeface="Microsoft YaHei"/>
                <a:ea typeface="Microsoft YaHei"/>
              </a:rPr>
              <a:t>2× / 2.15×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35624" y="49834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35624" y="498348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5056632"/>
            <a:ext cx="1600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Kernel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0216" y="5257800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9.52→1.95ms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5513832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5C26"/>
                </a:solidFill>
                <a:latin typeface="Microsoft YaHei"/>
                <a:ea typeface="Microsoft YaHei"/>
              </a:rPr>
              <a:t>4.88×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4152" y="49834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74152" y="498348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38744" y="5056632"/>
            <a:ext cx="1600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CPU:GPU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38744" y="5257800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1:8 → 1:1~2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38744" y="5513832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5C26"/>
                </a:solidFill>
                <a:latin typeface="Microsoft YaHei"/>
                <a:ea typeface="Microsoft YaHei"/>
              </a:rPr>
              <a:t>核数~4×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12680" y="49834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12680" y="4983480"/>
            <a:ext cx="73152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77272" y="5056632"/>
            <a:ext cx="16002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900" b="0">
                <a:solidFill>
                  <a:srgbClr val="4A5B6A"/>
                </a:solidFill>
                <a:latin typeface="Microsoft YaHei"/>
                <a:ea typeface="Microsoft YaHei"/>
              </a:rPr>
              <a:t>Hisim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77272" y="5257800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14283C"/>
                </a:solidFill>
                <a:latin typeface="Microsoft YaHei"/>
                <a:ea typeface="Microsoft YaHei"/>
              </a:rPr>
              <a:t>仿真准确率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77272" y="5513832"/>
            <a:ext cx="1600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45C26"/>
                </a:solidFill>
                <a:latin typeface="Microsoft YaHei"/>
                <a:ea typeface="Microsoft YaHei"/>
              </a:rPr>
              <a:t>96%+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989320"/>
            <a:ext cx="11521440" cy="658368"/>
          </a:xfrm>
          <a:prstGeom prst="rect">
            <a:avLst/>
          </a:prstGeom>
          <a:solidFill>
            <a:srgbClr val="14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062472"/>
            <a:ext cx="112471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近半年可落地：KV 分层与价值调度 · 运维评测床 · Profiler Dev Loop · 安全八项清单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336792"/>
            <a:ext cx="1124712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9BC9C6"/>
                </a:solidFill>
                <a:latin typeface="Microsoft YaHei"/>
                <a:ea typeface="Microsoft YaHei"/>
              </a:rPr>
              <a:t>中远期：CXL/SCM 与超节点功率规划 · Kernel Agent 多芯供给 · P/D+AFD 拆分（先仿真再到柜）  |  来源：云栖大会 agendaId=164 八场技术分享综合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