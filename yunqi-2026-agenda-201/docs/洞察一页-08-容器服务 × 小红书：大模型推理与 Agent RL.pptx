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15568"/>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20040" y="73152"/>
            <a:ext cx="11521440" cy="219456"/>
          </a:xfrm>
          <a:prstGeom prst="rect">
            <a:avLst/>
          </a:prstGeom>
          <a:noFill/>
        </p:spPr>
        <p:txBody>
          <a:bodyPr wrap="square">
            <a:spAutoFit/>
          </a:bodyPr>
          <a:lstStyle/>
          <a:p>
            <a:pPr algn="l"/>
            <a:r>
              <a:rPr sz="1100" b="0">
                <a:solidFill>
                  <a:srgbClr val="6B6B6B"/>
                </a:solidFill>
                <a:latin typeface="Microsoft YaHei"/>
                <a:ea typeface="Microsoft YaHei"/>
              </a:rPr>
              <a:t>08 · 车漾 / 熊峰 · 阿里云容器服务 ACK × 小红书</a:t>
            </a:r>
          </a:p>
        </p:txBody>
      </p:sp>
      <p:sp>
        <p:nvSpPr>
          <p:cNvPr id="5" name="TextBox 4"/>
          <p:cNvSpPr txBox="1"/>
          <p:nvPr/>
        </p:nvSpPr>
        <p:spPr>
          <a:xfrm>
            <a:off x="320040" y="310896"/>
            <a:ext cx="11521440" cy="658368"/>
          </a:xfrm>
          <a:prstGeom prst="rect">
            <a:avLst/>
          </a:prstGeom>
          <a:noFill/>
        </p:spPr>
        <p:txBody>
          <a:bodyPr wrap="square">
            <a:spAutoFit/>
          </a:bodyPr>
          <a:lstStyle/>
          <a:p>
            <a:pPr algn="l"/>
            <a:r>
              <a:rPr sz="1700" b="1">
                <a:solidFill>
                  <a:srgbClr val="1A1A1A"/>
                </a:solidFill>
                <a:latin typeface="Microsoft YaHei"/>
                <a:ea typeface="Microsoft YaHei"/>
              </a:rPr>
              <a:t>从「容器服务 × 小红书」议题看 ACK 围绕 Cost/Token 的 AI 推理降本与编排演进实践</a:t>
            </a:r>
          </a:p>
        </p:txBody>
      </p:sp>
      <p:sp>
        <p:nvSpPr>
          <p:cNvPr id="6" name="Rectangle 5"/>
          <p:cNvSpPr/>
          <p:nvPr/>
        </p:nvSpPr>
        <p:spPr>
          <a:xfrm>
            <a:off x="274320" y="1207008"/>
            <a:ext cx="11612880" cy="621792"/>
          </a:xfrm>
          <a:prstGeom prst="rect">
            <a:avLst/>
          </a:prstGeom>
          <a:solidFill>
            <a:srgbClr val="FFFFFF"/>
          </a:solidFill>
          <a:ln w="12700">
            <a:solidFill>
              <a:srgbClr val="D0D8D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1261872"/>
            <a:ext cx="11338560" cy="512064"/>
          </a:xfrm>
          <a:prstGeom prst="rect">
            <a:avLst/>
          </a:prstGeom>
          <a:noFill/>
        </p:spPr>
        <p:txBody>
          <a:bodyPr wrap="square">
            <a:spAutoFit/>
          </a:bodyPr>
          <a:lstStyle/>
          <a:p>
            <a:pPr algn="l"/>
            <a:r>
              <a:rPr sz="1100" b="1">
                <a:solidFill>
                  <a:srgbClr val="1A1A1A"/>
                </a:solidFill>
                <a:latin typeface="Microsoft YaHei"/>
                <a:ea typeface="Microsoft YaHei"/>
              </a:rPr>
              <a:t>一句话判断：阿里云 ACK × 小红书以 Cost/Million Tokens = GPU小时成本 ÷ (Throughput × Utilization) 为北极星；用网关智能路由 + ModelScale 权重秒级加载 + InferenceKit 拓扑注入抬分母，用静态 PD→动态 RBG 演进编排，同 SLO 吞吐 2~3×、GPU 节省约 50%。</a:t>
            </a:r>
          </a:p>
        </p:txBody>
      </p:sp>
      <p:sp>
        <p:nvSpPr>
          <p:cNvPr id="8" name="Rectangle 7"/>
          <p:cNvSpPr/>
          <p:nvPr/>
        </p:nvSpPr>
        <p:spPr>
          <a:xfrm>
            <a:off x="274320" y="1956816"/>
            <a:ext cx="5705856" cy="2450592"/>
          </a:xfrm>
          <a:prstGeom prst="rect">
            <a:avLst/>
          </a:prstGeom>
          <a:solidFill>
            <a:srgbClr val="FFFFFF"/>
          </a:solidFill>
          <a:ln w="12700">
            <a:solidFill>
              <a:srgbClr val="D0D8D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20624" y="2048256"/>
            <a:ext cx="5413248" cy="292608"/>
          </a:xfrm>
          <a:prstGeom prst="rect">
            <a:avLst/>
          </a:prstGeom>
          <a:noFill/>
        </p:spPr>
        <p:txBody>
          <a:bodyPr wrap="square">
            <a:spAutoFit/>
          </a:bodyPr>
          <a:lstStyle/>
          <a:p>
            <a:pPr algn="l"/>
            <a:r>
              <a:rPr sz="1400" b="1">
                <a:solidFill>
                  <a:srgbClr val="8B1A2B"/>
                </a:solidFill>
                <a:latin typeface="Microsoft YaHei"/>
                <a:ea typeface="Microsoft YaHei"/>
              </a:rPr>
              <a:t>01  Serving Stack 三件套</a:t>
            </a:r>
          </a:p>
        </p:txBody>
      </p:sp>
      <p:sp>
        <p:nvSpPr>
          <p:cNvPr id="10" name="TextBox 9"/>
          <p:cNvSpPr txBox="1"/>
          <p:nvPr/>
        </p:nvSpPr>
        <p:spPr>
          <a:xfrm>
            <a:off x="420624" y="2377440"/>
            <a:ext cx="5413248" cy="1938528"/>
          </a:xfrm>
          <a:prstGeom prst="rect">
            <a:avLst/>
          </a:prstGeom>
          <a:noFill/>
        </p:spPr>
        <p:txBody>
          <a:bodyPr wrap="square">
            <a:spAutoFit/>
          </a:bodyPr>
          <a:lstStyle/>
          <a:p>
            <a:pPr algn="l">
              <a:spcAft>
                <a:spcPts val="200"/>
              </a:spcAft>
            </a:pPr>
            <a:r>
              <a:rPr sz="1100" b="1">
                <a:solidFill>
                  <a:srgbClr val="1A1A1A"/>
                </a:solidFill>
                <a:latin typeface="Microsoft YaHei"/>
                <a:ea typeface="Microsoft YaHei"/>
              </a:rPr>
              <a:t>技术启示：冷启命中与拓扑正确性，比引擎峰值更能改写 Token 成本</a:t>
            </a:r>
          </a:p>
          <a:p>
            <a:pPr algn="l">
              <a:spcAft>
                <a:spcPts val="200"/>
              </a:spcAft>
            </a:pPr>
            <a:r>
              <a:rPr sz="1100" b="0">
                <a:solidFill>
                  <a:srgbClr val="4A4A4A"/>
                </a:solidFill>
                <a:latin typeface="Microsoft YaHei"/>
                <a:ea typeface="Microsoft YaHei"/>
              </a:rPr>
              <a:t>• 网关：公平调度+负载/缓存亲和；TTFT -75%、ITL -40%、吞吐 3×</a:t>
            </a:r>
          </a:p>
          <a:p>
            <a:pPr algn="l">
              <a:spcAft>
                <a:spcPts val="200"/>
              </a:spcAft>
            </a:pPr>
            <a:r>
              <a:rPr sz="1100" b="0">
                <a:solidFill>
                  <a:srgbClr val="4A4A4A"/>
                </a:solidFill>
                <a:latin typeface="Microsoft YaHei"/>
                <a:ea typeface="Microsoft YaHei"/>
              </a:rPr>
              <a:t>• ModelScale：RDMA+GDR+P2P 分层权重；加载 120s→20s</a:t>
            </a:r>
          </a:p>
          <a:p>
            <a:pPr algn="l">
              <a:spcAft>
                <a:spcPts val="200"/>
              </a:spcAft>
            </a:pPr>
            <a:r>
              <a:rPr sz="1100" b="0">
                <a:solidFill>
                  <a:srgbClr val="4A4A4A"/>
                </a:solidFill>
                <a:latin typeface="Microsoft YaHei"/>
                <a:ea typeface="Microsoft YaHei"/>
              </a:rPr>
              <a:t>• InferenceKit：Webhook→Wrapper→插件；无静默、Summary 自证</a:t>
            </a:r>
          </a:p>
          <a:p>
            <a:pPr algn="l">
              <a:spcAft>
                <a:spcPts val="200"/>
              </a:spcAft>
            </a:pPr>
            <a:r>
              <a:rPr sz="1100" b="0">
                <a:solidFill>
                  <a:srgbClr val="4A4A4A"/>
                </a:solidFill>
                <a:latin typeface="Microsoft YaHei"/>
                <a:ea typeface="Microsoft YaHei"/>
              </a:rPr>
              <a:t>• NUMA 错配吞吐约 -13%~-14%；ICN64 vs RDMA 吞吐 +40%~55%</a:t>
            </a:r>
          </a:p>
        </p:txBody>
      </p:sp>
      <p:sp>
        <p:nvSpPr>
          <p:cNvPr id="11" name="Rectangle 10"/>
          <p:cNvSpPr/>
          <p:nvPr/>
        </p:nvSpPr>
        <p:spPr>
          <a:xfrm>
            <a:off x="6181344" y="1956816"/>
            <a:ext cx="5705856" cy="2450592"/>
          </a:xfrm>
          <a:prstGeom prst="rect">
            <a:avLst/>
          </a:prstGeom>
          <a:solidFill>
            <a:srgbClr val="FFFFFF"/>
          </a:solidFill>
          <a:ln w="12700">
            <a:solidFill>
              <a:srgbClr val="D0D8D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327648" y="2048256"/>
            <a:ext cx="5413248" cy="292608"/>
          </a:xfrm>
          <a:prstGeom prst="rect">
            <a:avLst/>
          </a:prstGeom>
          <a:noFill/>
        </p:spPr>
        <p:txBody>
          <a:bodyPr wrap="square">
            <a:spAutoFit/>
          </a:bodyPr>
          <a:lstStyle/>
          <a:p>
            <a:pPr algn="l"/>
            <a:r>
              <a:rPr sz="1400" b="1">
                <a:solidFill>
                  <a:srgbClr val="8B1A2B"/>
                </a:solidFill>
                <a:latin typeface="Microsoft YaHei"/>
                <a:ea typeface="Microsoft YaHei"/>
              </a:rPr>
              <a:t>02  静态 PD → 动态 RBG</a:t>
            </a:r>
          </a:p>
        </p:txBody>
      </p:sp>
      <p:sp>
        <p:nvSpPr>
          <p:cNvPr id="13" name="TextBox 12"/>
          <p:cNvSpPr txBox="1"/>
          <p:nvPr/>
        </p:nvSpPr>
        <p:spPr>
          <a:xfrm>
            <a:off x="6327648" y="2377440"/>
            <a:ext cx="5413248" cy="1938528"/>
          </a:xfrm>
          <a:prstGeom prst="rect">
            <a:avLst/>
          </a:prstGeom>
          <a:noFill/>
        </p:spPr>
        <p:txBody>
          <a:bodyPr wrap="square">
            <a:spAutoFit/>
          </a:bodyPr>
          <a:lstStyle/>
          <a:p>
            <a:pPr algn="l">
              <a:spcAft>
                <a:spcPts val="200"/>
              </a:spcAft>
            </a:pPr>
            <a:r>
              <a:rPr sz="1100" b="1">
                <a:solidFill>
                  <a:srgbClr val="1A1A1A"/>
                </a:solidFill>
                <a:latin typeface="Microsoft YaHei"/>
                <a:ea typeface="Microsoft YaHei"/>
              </a:rPr>
              <a:t>技术启示：固定配比成组部署只够稳态，动态负载要分角色扩缩</a:t>
            </a:r>
          </a:p>
          <a:p>
            <a:pPr algn="l">
              <a:spcAft>
                <a:spcPts val="200"/>
              </a:spcAft>
            </a:pPr>
            <a:r>
              <a:rPr sz="1100" b="0">
                <a:solidFill>
                  <a:srgbClr val="4A4A4A"/>
                </a:solidFill>
                <a:latin typeface="Microsoft YaHei"/>
                <a:ea typeface="Microsoft YaHei"/>
              </a:rPr>
              <a:t>• 静态成组：组内 P:D 固定，整组调度/扩缩/发布；原地升级+四级缓存</a:t>
            </a:r>
          </a:p>
          <a:p>
            <a:pPr algn="l">
              <a:spcAft>
                <a:spcPts val="200"/>
              </a:spcAft>
            </a:pPr>
            <a:r>
              <a:rPr sz="1100" b="0">
                <a:solidFill>
                  <a:srgbClr val="4A4A4A"/>
                </a:solidFill>
                <a:latin typeface="Microsoft YaHei"/>
                <a:ea typeface="Microsoft YaHei"/>
              </a:rPr>
              <a:t>• 动态分角色：Router/P/D/KV 独立扩缩与发布；按 KV 前缀命中全局选实例</a:t>
            </a:r>
          </a:p>
          <a:p>
            <a:pPr algn="l">
              <a:spcAft>
                <a:spcPts val="200"/>
              </a:spcAft>
            </a:pPr>
            <a:r>
              <a:rPr sz="1100" b="0">
                <a:solidFill>
                  <a:srgbClr val="4A4A4A"/>
                </a:solidFill>
                <a:latin typeface="Microsoft YaHei"/>
                <a:ea typeface="Microsoft YaHei"/>
              </a:rPr>
              <a:t>• 生产：同 SLO 吞吐 2~3×，GPU 节省约 50%；开源 sgl-project/rbg</a:t>
            </a:r>
          </a:p>
          <a:p>
            <a:pPr algn="l">
              <a:spcAft>
                <a:spcPts val="200"/>
              </a:spcAft>
            </a:pPr>
            <a:r>
              <a:rPr sz="1100" b="0">
                <a:solidFill>
                  <a:srgbClr val="4A4A4A"/>
                </a:solidFill>
                <a:latin typeface="Microsoft YaHei"/>
                <a:ea typeface="Microsoft YaHei"/>
              </a:rPr>
              <a:t>• 向上延伸：快照复用 + Rollout 托管，承接训推一体执行面</a:t>
            </a:r>
          </a:p>
        </p:txBody>
      </p:sp>
      <p:sp>
        <p:nvSpPr>
          <p:cNvPr id="14" name="TextBox 13"/>
          <p:cNvSpPr txBox="1"/>
          <p:nvPr/>
        </p:nvSpPr>
        <p:spPr>
          <a:xfrm>
            <a:off x="274320" y="4370832"/>
            <a:ext cx="9144000" cy="201168"/>
          </a:xfrm>
          <a:prstGeom prst="rect">
            <a:avLst/>
          </a:prstGeom>
          <a:noFill/>
        </p:spPr>
        <p:txBody>
          <a:bodyPr wrap="square">
            <a:spAutoFit/>
          </a:bodyPr>
          <a:lstStyle/>
          <a:p>
            <a:pPr algn="l"/>
            <a:r>
              <a:rPr sz="1100" b="1">
                <a:solidFill>
                  <a:srgbClr val="1A1A1A"/>
                </a:solidFill>
                <a:latin typeface="Microsoft YaHei"/>
                <a:ea typeface="Microsoft YaHei"/>
              </a:rPr>
              <a:t>关键指标对比与提升</a:t>
            </a:r>
          </a:p>
        </p:txBody>
      </p:sp>
      <p:sp>
        <p:nvSpPr>
          <p:cNvPr id="15" name="Rectangle 14"/>
          <p:cNvSpPr/>
          <p:nvPr/>
        </p:nvSpPr>
        <p:spPr>
          <a:xfrm>
            <a:off x="274320" y="4572000"/>
            <a:ext cx="1874519" cy="713232"/>
          </a:xfrm>
          <a:prstGeom prst="rect">
            <a:avLst/>
          </a:prstGeom>
          <a:solidFill>
            <a:srgbClr val="FFFFFF"/>
          </a:solidFill>
          <a:ln w="12700">
            <a:solidFill>
              <a:srgbClr val="D0D8D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47472" y="4590288"/>
            <a:ext cx="1746503" cy="164592"/>
          </a:xfrm>
          <a:prstGeom prst="rect">
            <a:avLst/>
          </a:prstGeom>
          <a:noFill/>
        </p:spPr>
        <p:txBody>
          <a:bodyPr wrap="square">
            <a:spAutoFit/>
          </a:bodyPr>
          <a:lstStyle/>
          <a:p>
            <a:pPr algn="l"/>
            <a:r>
              <a:rPr sz="900" b="0">
                <a:solidFill>
                  <a:srgbClr val="6B6B6B"/>
                </a:solidFill>
                <a:latin typeface="Microsoft YaHei"/>
                <a:ea typeface="Microsoft YaHei"/>
              </a:rPr>
              <a:t>网关 TTFT</a:t>
            </a:r>
          </a:p>
        </p:txBody>
      </p:sp>
      <p:sp>
        <p:nvSpPr>
          <p:cNvPr id="17" name="TextBox 16"/>
          <p:cNvSpPr txBox="1"/>
          <p:nvPr/>
        </p:nvSpPr>
        <p:spPr>
          <a:xfrm>
            <a:off x="347472" y="4754880"/>
            <a:ext cx="1746503" cy="182880"/>
          </a:xfrm>
          <a:prstGeom prst="rect">
            <a:avLst/>
          </a:prstGeom>
          <a:noFill/>
        </p:spPr>
        <p:txBody>
          <a:bodyPr wrap="square">
            <a:spAutoFit/>
          </a:bodyPr>
          <a:lstStyle/>
          <a:p>
            <a:pPr algn="l"/>
            <a:r>
              <a:rPr sz="900" b="0">
                <a:solidFill>
                  <a:srgbClr val="4A4A4A"/>
                </a:solidFill>
                <a:latin typeface="Microsoft YaHei"/>
                <a:ea typeface="Microsoft YaHei"/>
              </a:rPr>
              <a:t>典型场景</a:t>
            </a:r>
          </a:p>
        </p:txBody>
      </p:sp>
      <p:sp>
        <p:nvSpPr>
          <p:cNvPr id="18" name="TextBox 17"/>
          <p:cNvSpPr txBox="1"/>
          <p:nvPr/>
        </p:nvSpPr>
        <p:spPr>
          <a:xfrm>
            <a:off x="347472" y="4937760"/>
            <a:ext cx="1746503" cy="292608"/>
          </a:xfrm>
          <a:prstGeom prst="rect">
            <a:avLst/>
          </a:prstGeom>
          <a:noFill/>
        </p:spPr>
        <p:txBody>
          <a:bodyPr wrap="square">
            <a:spAutoFit/>
          </a:bodyPr>
          <a:lstStyle/>
          <a:p>
            <a:pPr algn="l"/>
            <a:r>
              <a:rPr sz="1200" b="1">
                <a:solidFill>
                  <a:srgbClr val="8B1A2B"/>
                </a:solidFill>
                <a:latin typeface="Microsoft YaHei"/>
                <a:ea typeface="Microsoft YaHei"/>
              </a:rPr>
              <a:t>-75%</a:t>
            </a:r>
          </a:p>
        </p:txBody>
      </p:sp>
      <p:sp>
        <p:nvSpPr>
          <p:cNvPr id="19" name="Rectangle 18"/>
          <p:cNvSpPr/>
          <p:nvPr/>
        </p:nvSpPr>
        <p:spPr>
          <a:xfrm>
            <a:off x="2240279" y="4572000"/>
            <a:ext cx="1874519" cy="713232"/>
          </a:xfrm>
          <a:prstGeom prst="rect">
            <a:avLst/>
          </a:prstGeom>
          <a:solidFill>
            <a:srgbClr val="FFFFFF"/>
          </a:solidFill>
          <a:ln w="12700">
            <a:solidFill>
              <a:srgbClr val="D0D8D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2313431" y="4590288"/>
            <a:ext cx="1746503" cy="164592"/>
          </a:xfrm>
          <a:prstGeom prst="rect">
            <a:avLst/>
          </a:prstGeom>
          <a:noFill/>
        </p:spPr>
        <p:txBody>
          <a:bodyPr wrap="square">
            <a:spAutoFit/>
          </a:bodyPr>
          <a:lstStyle/>
          <a:p>
            <a:pPr algn="l"/>
            <a:r>
              <a:rPr sz="900" b="0">
                <a:solidFill>
                  <a:srgbClr val="6B6B6B"/>
                </a:solidFill>
                <a:latin typeface="Microsoft YaHei"/>
                <a:ea typeface="Microsoft YaHei"/>
              </a:rPr>
              <a:t>网关吞吐</a:t>
            </a:r>
          </a:p>
        </p:txBody>
      </p:sp>
      <p:sp>
        <p:nvSpPr>
          <p:cNvPr id="21" name="TextBox 20"/>
          <p:cNvSpPr txBox="1"/>
          <p:nvPr/>
        </p:nvSpPr>
        <p:spPr>
          <a:xfrm>
            <a:off x="2313431" y="4754880"/>
            <a:ext cx="1746503" cy="182880"/>
          </a:xfrm>
          <a:prstGeom prst="rect">
            <a:avLst/>
          </a:prstGeom>
          <a:noFill/>
        </p:spPr>
        <p:txBody>
          <a:bodyPr wrap="square">
            <a:spAutoFit/>
          </a:bodyPr>
          <a:lstStyle/>
          <a:p>
            <a:pPr algn="l"/>
            <a:r>
              <a:rPr sz="900" b="0">
                <a:solidFill>
                  <a:srgbClr val="4A4A4A"/>
                </a:solidFill>
                <a:latin typeface="Microsoft YaHei"/>
                <a:ea typeface="Microsoft YaHei"/>
              </a:rPr>
              <a:t>典型场景</a:t>
            </a:r>
          </a:p>
        </p:txBody>
      </p:sp>
      <p:sp>
        <p:nvSpPr>
          <p:cNvPr id="22" name="TextBox 21"/>
          <p:cNvSpPr txBox="1"/>
          <p:nvPr/>
        </p:nvSpPr>
        <p:spPr>
          <a:xfrm>
            <a:off x="2313431" y="4937760"/>
            <a:ext cx="1746503" cy="292608"/>
          </a:xfrm>
          <a:prstGeom prst="rect">
            <a:avLst/>
          </a:prstGeom>
          <a:noFill/>
        </p:spPr>
        <p:txBody>
          <a:bodyPr wrap="square">
            <a:spAutoFit/>
          </a:bodyPr>
          <a:lstStyle/>
          <a:p>
            <a:pPr algn="l"/>
            <a:r>
              <a:rPr sz="1200" b="1">
                <a:solidFill>
                  <a:srgbClr val="8B1A2B"/>
                </a:solidFill>
                <a:latin typeface="Microsoft YaHei"/>
                <a:ea typeface="Microsoft YaHei"/>
              </a:rPr>
              <a:t>3×</a:t>
            </a:r>
          </a:p>
        </p:txBody>
      </p:sp>
      <p:sp>
        <p:nvSpPr>
          <p:cNvPr id="23" name="Rectangle 22"/>
          <p:cNvSpPr/>
          <p:nvPr/>
        </p:nvSpPr>
        <p:spPr>
          <a:xfrm>
            <a:off x="4206238" y="4572000"/>
            <a:ext cx="1874519" cy="713232"/>
          </a:xfrm>
          <a:prstGeom prst="rect">
            <a:avLst/>
          </a:prstGeom>
          <a:solidFill>
            <a:srgbClr val="FFFFFF"/>
          </a:solidFill>
          <a:ln w="12700">
            <a:solidFill>
              <a:srgbClr val="D0D8D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279390" y="4590288"/>
            <a:ext cx="1746503" cy="164592"/>
          </a:xfrm>
          <a:prstGeom prst="rect">
            <a:avLst/>
          </a:prstGeom>
          <a:noFill/>
        </p:spPr>
        <p:txBody>
          <a:bodyPr wrap="square">
            <a:spAutoFit/>
          </a:bodyPr>
          <a:lstStyle/>
          <a:p>
            <a:pPr algn="l"/>
            <a:r>
              <a:rPr sz="900" b="0">
                <a:solidFill>
                  <a:srgbClr val="6B6B6B"/>
                </a:solidFill>
                <a:latin typeface="Microsoft YaHei"/>
                <a:ea typeface="Microsoft YaHei"/>
              </a:rPr>
              <a:t>权重加载</a:t>
            </a:r>
          </a:p>
        </p:txBody>
      </p:sp>
      <p:sp>
        <p:nvSpPr>
          <p:cNvPr id="25" name="TextBox 24"/>
          <p:cNvSpPr txBox="1"/>
          <p:nvPr/>
        </p:nvSpPr>
        <p:spPr>
          <a:xfrm>
            <a:off x="4279390" y="4754880"/>
            <a:ext cx="1746503" cy="182880"/>
          </a:xfrm>
          <a:prstGeom prst="rect">
            <a:avLst/>
          </a:prstGeom>
          <a:noFill/>
        </p:spPr>
        <p:txBody>
          <a:bodyPr wrap="square">
            <a:spAutoFit/>
          </a:bodyPr>
          <a:lstStyle/>
          <a:p>
            <a:pPr algn="l"/>
            <a:r>
              <a:rPr sz="900" b="0">
                <a:solidFill>
                  <a:srgbClr val="4A4A4A"/>
                </a:solidFill>
                <a:latin typeface="Microsoft YaHei"/>
                <a:ea typeface="Microsoft YaHei"/>
              </a:rPr>
              <a:t>120s → 20s</a:t>
            </a:r>
          </a:p>
        </p:txBody>
      </p:sp>
      <p:sp>
        <p:nvSpPr>
          <p:cNvPr id="26" name="TextBox 25"/>
          <p:cNvSpPr txBox="1"/>
          <p:nvPr/>
        </p:nvSpPr>
        <p:spPr>
          <a:xfrm>
            <a:off x="4279390" y="4937760"/>
            <a:ext cx="1746503" cy="292608"/>
          </a:xfrm>
          <a:prstGeom prst="rect">
            <a:avLst/>
          </a:prstGeom>
          <a:noFill/>
        </p:spPr>
        <p:txBody>
          <a:bodyPr wrap="square">
            <a:spAutoFit/>
          </a:bodyPr>
          <a:lstStyle/>
          <a:p>
            <a:pPr algn="l"/>
            <a:r>
              <a:rPr sz="1200" b="1">
                <a:solidFill>
                  <a:srgbClr val="8B1A2B"/>
                </a:solidFill>
                <a:latin typeface="Microsoft YaHei"/>
                <a:ea typeface="Microsoft YaHei"/>
              </a:rPr>
              <a:t>约 6×</a:t>
            </a:r>
          </a:p>
        </p:txBody>
      </p:sp>
      <p:sp>
        <p:nvSpPr>
          <p:cNvPr id="27" name="Rectangle 26"/>
          <p:cNvSpPr/>
          <p:nvPr/>
        </p:nvSpPr>
        <p:spPr>
          <a:xfrm>
            <a:off x="6172197" y="4572000"/>
            <a:ext cx="1874519" cy="713232"/>
          </a:xfrm>
          <a:prstGeom prst="rect">
            <a:avLst/>
          </a:prstGeom>
          <a:solidFill>
            <a:srgbClr val="FFFFFF"/>
          </a:solidFill>
          <a:ln w="12700">
            <a:solidFill>
              <a:srgbClr val="D0D8D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245349" y="4590288"/>
            <a:ext cx="1746503" cy="164592"/>
          </a:xfrm>
          <a:prstGeom prst="rect">
            <a:avLst/>
          </a:prstGeom>
          <a:noFill/>
        </p:spPr>
        <p:txBody>
          <a:bodyPr wrap="square">
            <a:spAutoFit/>
          </a:bodyPr>
          <a:lstStyle/>
          <a:p>
            <a:pPr algn="l"/>
            <a:r>
              <a:rPr sz="900" b="0">
                <a:solidFill>
                  <a:srgbClr val="6B6B6B"/>
                </a:solidFill>
                <a:latin typeface="Microsoft YaHei"/>
                <a:ea typeface="Microsoft YaHei"/>
              </a:rPr>
              <a:t>P2P vs OSS</a:t>
            </a:r>
          </a:p>
        </p:txBody>
      </p:sp>
      <p:sp>
        <p:nvSpPr>
          <p:cNvPr id="29" name="TextBox 28"/>
          <p:cNvSpPr txBox="1"/>
          <p:nvPr/>
        </p:nvSpPr>
        <p:spPr>
          <a:xfrm>
            <a:off x="6245349" y="4754880"/>
            <a:ext cx="1746503" cy="182880"/>
          </a:xfrm>
          <a:prstGeom prst="rect">
            <a:avLst/>
          </a:prstGeom>
          <a:noFill/>
        </p:spPr>
        <p:txBody>
          <a:bodyPr wrap="square">
            <a:spAutoFit/>
          </a:bodyPr>
          <a:lstStyle/>
          <a:p>
            <a:pPr algn="l"/>
            <a:r>
              <a:rPr sz="900" b="0">
                <a:solidFill>
                  <a:srgbClr val="4A4A4A"/>
                </a:solidFill>
                <a:latin typeface="Microsoft YaHei"/>
                <a:ea typeface="Microsoft YaHei"/>
              </a:rPr>
              <a:t>Qwen3-32B</a:t>
            </a:r>
          </a:p>
        </p:txBody>
      </p:sp>
      <p:sp>
        <p:nvSpPr>
          <p:cNvPr id="30" name="TextBox 29"/>
          <p:cNvSpPr txBox="1"/>
          <p:nvPr/>
        </p:nvSpPr>
        <p:spPr>
          <a:xfrm>
            <a:off x="6245349" y="4937760"/>
            <a:ext cx="1746503" cy="292608"/>
          </a:xfrm>
          <a:prstGeom prst="rect">
            <a:avLst/>
          </a:prstGeom>
          <a:noFill/>
        </p:spPr>
        <p:txBody>
          <a:bodyPr wrap="square">
            <a:spAutoFit/>
          </a:bodyPr>
          <a:lstStyle/>
          <a:p>
            <a:pPr algn="l"/>
            <a:r>
              <a:rPr sz="1200" b="1">
                <a:solidFill>
                  <a:srgbClr val="8B1A2B"/>
                </a:solidFill>
                <a:latin typeface="Microsoft YaHei"/>
                <a:ea typeface="Microsoft YaHei"/>
              </a:rPr>
              <a:t>13.5×</a:t>
            </a:r>
          </a:p>
        </p:txBody>
      </p:sp>
      <p:sp>
        <p:nvSpPr>
          <p:cNvPr id="31" name="Rectangle 30"/>
          <p:cNvSpPr/>
          <p:nvPr/>
        </p:nvSpPr>
        <p:spPr>
          <a:xfrm>
            <a:off x="8138156" y="4572000"/>
            <a:ext cx="1874519" cy="713232"/>
          </a:xfrm>
          <a:prstGeom prst="rect">
            <a:avLst/>
          </a:prstGeom>
          <a:solidFill>
            <a:srgbClr val="FFFFFF"/>
          </a:solidFill>
          <a:ln w="12700">
            <a:solidFill>
              <a:srgbClr val="D0D8D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211308" y="4590288"/>
            <a:ext cx="1746503" cy="164592"/>
          </a:xfrm>
          <a:prstGeom prst="rect">
            <a:avLst/>
          </a:prstGeom>
          <a:noFill/>
        </p:spPr>
        <p:txBody>
          <a:bodyPr wrap="square">
            <a:spAutoFit/>
          </a:bodyPr>
          <a:lstStyle/>
          <a:p>
            <a:pPr algn="l"/>
            <a:r>
              <a:rPr sz="900" b="0">
                <a:solidFill>
                  <a:srgbClr val="6B6B6B"/>
                </a:solidFill>
                <a:latin typeface="Microsoft YaHei"/>
                <a:ea typeface="Microsoft YaHei"/>
              </a:rPr>
              <a:t>同 SLO 吞吐</a:t>
            </a:r>
          </a:p>
        </p:txBody>
      </p:sp>
      <p:sp>
        <p:nvSpPr>
          <p:cNvPr id="33" name="TextBox 32"/>
          <p:cNvSpPr txBox="1"/>
          <p:nvPr/>
        </p:nvSpPr>
        <p:spPr>
          <a:xfrm>
            <a:off x="8211308" y="4754880"/>
            <a:ext cx="1746503" cy="182880"/>
          </a:xfrm>
          <a:prstGeom prst="rect">
            <a:avLst/>
          </a:prstGeom>
          <a:noFill/>
        </p:spPr>
        <p:txBody>
          <a:bodyPr wrap="square">
            <a:spAutoFit/>
          </a:bodyPr>
          <a:lstStyle/>
          <a:p>
            <a:pPr algn="l"/>
            <a:r>
              <a:rPr sz="900" b="0">
                <a:solidFill>
                  <a:srgbClr val="4A4A4A"/>
                </a:solidFill>
                <a:latin typeface="Microsoft YaHei"/>
                <a:ea typeface="Microsoft YaHei"/>
              </a:rPr>
              <a:t>小红书生产</a:t>
            </a:r>
          </a:p>
        </p:txBody>
      </p:sp>
      <p:sp>
        <p:nvSpPr>
          <p:cNvPr id="34" name="TextBox 33"/>
          <p:cNvSpPr txBox="1"/>
          <p:nvPr/>
        </p:nvSpPr>
        <p:spPr>
          <a:xfrm>
            <a:off x="8211308" y="4937760"/>
            <a:ext cx="1746503" cy="292608"/>
          </a:xfrm>
          <a:prstGeom prst="rect">
            <a:avLst/>
          </a:prstGeom>
          <a:noFill/>
        </p:spPr>
        <p:txBody>
          <a:bodyPr wrap="square">
            <a:spAutoFit/>
          </a:bodyPr>
          <a:lstStyle/>
          <a:p>
            <a:pPr algn="l"/>
            <a:r>
              <a:rPr sz="1200" b="1">
                <a:solidFill>
                  <a:srgbClr val="8B1A2B"/>
                </a:solidFill>
                <a:latin typeface="Microsoft YaHei"/>
                <a:ea typeface="Microsoft YaHei"/>
              </a:rPr>
              <a:t>2~3×</a:t>
            </a:r>
          </a:p>
        </p:txBody>
      </p:sp>
      <p:sp>
        <p:nvSpPr>
          <p:cNvPr id="35" name="Rectangle 34"/>
          <p:cNvSpPr/>
          <p:nvPr/>
        </p:nvSpPr>
        <p:spPr>
          <a:xfrm>
            <a:off x="10104115" y="4572000"/>
            <a:ext cx="1874519" cy="713232"/>
          </a:xfrm>
          <a:prstGeom prst="rect">
            <a:avLst/>
          </a:prstGeom>
          <a:solidFill>
            <a:srgbClr val="FFFFFF"/>
          </a:solidFill>
          <a:ln w="12700">
            <a:solidFill>
              <a:srgbClr val="D0D8D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10177267" y="4590288"/>
            <a:ext cx="1746503" cy="164592"/>
          </a:xfrm>
          <a:prstGeom prst="rect">
            <a:avLst/>
          </a:prstGeom>
          <a:noFill/>
        </p:spPr>
        <p:txBody>
          <a:bodyPr wrap="square">
            <a:spAutoFit/>
          </a:bodyPr>
          <a:lstStyle/>
          <a:p>
            <a:pPr algn="l"/>
            <a:r>
              <a:rPr sz="900" b="0">
                <a:solidFill>
                  <a:srgbClr val="6B6B6B"/>
                </a:solidFill>
                <a:latin typeface="Microsoft YaHei"/>
                <a:ea typeface="Microsoft YaHei"/>
              </a:rPr>
              <a:t>GPU 资源</a:t>
            </a:r>
          </a:p>
        </p:txBody>
      </p:sp>
      <p:sp>
        <p:nvSpPr>
          <p:cNvPr id="37" name="TextBox 36"/>
          <p:cNvSpPr txBox="1"/>
          <p:nvPr/>
        </p:nvSpPr>
        <p:spPr>
          <a:xfrm>
            <a:off x="10177267" y="4754880"/>
            <a:ext cx="1746503" cy="182880"/>
          </a:xfrm>
          <a:prstGeom prst="rect">
            <a:avLst/>
          </a:prstGeom>
          <a:noFill/>
        </p:spPr>
        <p:txBody>
          <a:bodyPr wrap="square">
            <a:spAutoFit/>
          </a:bodyPr>
          <a:lstStyle/>
          <a:p>
            <a:pPr algn="l"/>
            <a:r>
              <a:rPr sz="900" b="0">
                <a:solidFill>
                  <a:srgbClr val="4A4A4A"/>
                </a:solidFill>
                <a:latin typeface="Microsoft YaHei"/>
                <a:ea typeface="Microsoft YaHei"/>
              </a:rPr>
              <a:t>小红书生产</a:t>
            </a:r>
          </a:p>
        </p:txBody>
      </p:sp>
      <p:sp>
        <p:nvSpPr>
          <p:cNvPr id="38" name="TextBox 37"/>
          <p:cNvSpPr txBox="1"/>
          <p:nvPr/>
        </p:nvSpPr>
        <p:spPr>
          <a:xfrm>
            <a:off x="10177267" y="4937760"/>
            <a:ext cx="1746503" cy="292608"/>
          </a:xfrm>
          <a:prstGeom prst="rect">
            <a:avLst/>
          </a:prstGeom>
          <a:noFill/>
        </p:spPr>
        <p:txBody>
          <a:bodyPr wrap="square">
            <a:spAutoFit/>
          </a:bodyPr>
          <a:lstStyle/>
          <a:p>
            <a:pPr algn="l"/>
            <a:r>
              <a:rPr sz="1200" b="1">
                <a:solidFill>
                  <a:srgbClr val="8B1A2B"/>
                </a:solidFill>
                <a:latin typeface="Microsoft YaHei"/>
                <a:ea typeface="Microsoft YaHei"/>
              </a:rPr>
              <a:t>节省 50%</a:t>
            </a:r>
          </a:p>
        </p:txBody>
      </p:sp>
      <p:sp>
        <p:nvSpPr>
          <p:cNvPr id="39" name="Rectangle 38"/>
          <p:cNvSpPr/>
          <p:nvPr/>
        </p:nvSpPr>
        <p:spPr>
          <a:xfrm>
            <a:off x="0" y="5394960"/>
            <a:ext cx="12191695" cy="146304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320040" y="5431536"/>
            <a:ext cx="11521440" cy="1097280"/>
          </a:xfrm>
          <a:prstGeom prst="rect">
            <a:avLst/>
          </a:prstGeom>
          <a:noFill/>
        </p:spPr>
        <p:txBody>
          <a:bodyPr wrap="square">
            <a:spAutoFit/>
          </a:bodyPr>
          <a:lstStyle/>
          <a:p>
            <a:pPr algn="l">
              <a:spcAft>
                <a:spcPts val="200"/>
              </a:spcAft>
            </a:pPr>
            <a:r>
              <a:rPr sz="1100" b="1">
                <a:solidFill>
                  <a:srgbClr val="1A1A1A"/>
                </a:solidFill>
                <a:latin typeface="Microsoft YaHei"/>
                <a:ea typeface="Microsoft YaHei"/>
              </a:rPr>
              <a:t>技术启示：</a:t>
            </a:r>
          </a:p>
          <a:p>
            <a:pPr algn="l">
              <a:spcAft>
                <a:spcPts val="200"/>
              </a:spcAft>
            </a:pPr>
            <a:r>
              <a:rPr sz="1100" b="0">
                <a:solidFill>
                  <a:srgbClr val="1A1A1A"/>
                </a:solidFill>
                <a:latin typeface="Microsoft YaHei"/>
                <a:ea typeface="Microsoft YaHei"/>
              </a:rPr>
              <a:t>• 发布准入与弹性观测指标集：TTFT、吞吐、权重分层命中率、冷启就绪时延、NUMA 与卡间互联拓扑正确性，形成可闭环验收。</a:t>
            </a:r>
          </a:p>
          <a:p>
            <a:pPr algn="l">
              <a:spcAft>
                <a:spcPts val="200"/>
              </a:spcAft>
            </a:pPr>
            <a:r>
              <a:rPr sz="1100" b="0">
                <a:solidFill>
                  <a:srgbClr val="1A1A1A"/>
                </a:solidFill>
                <a:latin typeface="Microsoft YaHei"/>
                <a:ea typeface="Microsoft YaHei"/>
              </a:rPr>
              <a:t>• ModelScale 冷温热权重分层（先 OSS，再 Mooncake，再到 FlashGPU/P2P），配合 InferenceKit 拓扑注入（NUMA 与互联），避免仅做引擎并行或 batching 时收益被冷启与错配抵消。</a:t>
            </a:r>
          </a:p>
          <a:p>
            <a:pPr algn="l">
              <a:spcAft>
                <a:spcPts val="200"/>
              </a:spcAft>
            </a:pPr>
            <a:r>
              <a:rPr sz="1100" b="0">
                <a:solidFill>
                  <a:srgbClr val="1A1A1A"/>
                </a:solidFill>
                <a:latin typeface="Microsoft YaHei"/>
                <a:ea typeface="Microsoft YaHei"/>
              </a:rPr>
              <a:t>• 大模型推理服务编排上，固定 P:D 成组部署只适合稳态生产；要支撑动态负载，需按 Router、Prefill、Decode、KV 分角色独立扩缩、协同发布，并按 KV 前缀命中在全局实例池中调度请求；Agent RL 的环境快照断点续跑与轨迹托管也跑在同一套角色编排与弹性控制面上。</a:t>
            </a:r>
          </a:p>
        </p:txBody>
      </p:sp>
      <p:sp>
        <p:nvSpPr>
          <p:cNvPr id="41" name="TextBox 40"/>
          <p:cNvSpPr txBox="1"/>
          <p:nvPr/>
        </p:nvSpPr>
        <p:spPr>
          <a:xfrm>
            <a:off x="320040" y="6528816"/>
            <a:ext cx="11521440" cy="201168"/>
          </a:xfrm>
          <a:prstGeom prst="rect">
            <a:avLst/>
          </a:prstGeom>
          <a:noFill/>
        </p:spPr>
        <p:txBody>
          <a:bodyPr wrap="square">
            <a:spAutoFit/>
          </a:bodyPr>
          <a:lstStyle/>
          <a:p>
            <a:pPr algn="l"/>
            <a:r>
              <a:rPr sz="900" b="0">
                <a:solidFill>
                  <a:srgbClr val="6B6B6B"/>
                </a:solidFill>
                <a:latin typeface="Microsoft YaHei"/>
                <a:ea typeface="Microsoft YaHei"/>
              </a:rPr>
              <a:t>来源：云栖大会 agendaId=201｜容器服务 × 小红书：大模型推理与 Agent RL · 车漾 / 熊峰</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