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91440"/>
            <a:ext cx="115214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B6B6B"/>
                </a:solidFill>
                <a:latin typeface="Microsoft YaHei"/>
                <a:ea typeface="Microsoft YaHei"/>
              </a:rPr>
              <a:t>04 · 张林峰 · 无尽前延（Endless Frontier）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347472"/>
            <a:ext cx="1152144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A1A1A"/>
                </a:solidFill>
                <a:latin typeface="Microsoft YaHei"/>
                <a:ea typeface="Microsoft YaHei"/>
              </a:rPr>
              <a:t>洞察：科学后训练的价值在于把 AI 嵌入真实理论计算与科研协作，而非停留在通用对话能力。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207008"/>
            <a:ext cx="11612880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1261872"/>
            <a:ext cx="11338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A1A1A"/>
                </a:solidFill>
                <a:latin typeface="Microsoft YaHei"/>
                <a:ea typeface="Microsoft YaHei"/>
              </a:rPr>
              <a:t>一句话判断：演讲从 AI4Science 转向 Science4AI，主张以 Coding/科研驱动的后训练 Scaling 比自然语言预训练更能高效提升智能。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2084831"/>
            <a:ext cx="3749039" cy="2267712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02336" y="2176271"/>
            <a:ext cx="3493007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8B1A2B"/>
                </a:solidFill>
                <a:latin typeface="Microsoft YaHei"/>
                <a:ea typeface="Microsoft YaHei"/>
              </a:rPr>
              <a:t>01  定位澄清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02336" y="2487167"/>
            <a:ext cx="3493007" cy="1764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1A1A1A"/>
                </a:solidFill>
                <a:latin typeface="Microsoft YaHei"/>
                <a:ea typeface="Microsoft YaHei"/>
              </a:rPr>
              <a:t>产品叙事上应区分「科研自动化」与「模型自改进」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• 强调 Auto-Research 覆盖面更广，AI4AI 只是其中组成部分而非全部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• 科学后训练目标是让 AI 参与真实理论研究与科研流程，而非仅做模型自改进脚本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87951" y="2084831"/>
            <a:ext cx="3749039" cy="2267712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15967" y="2176271"/>
            <a:ext cx="3493007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8B1A2B"/>
                </a:solidFill>
                <a:latin typeface="Microsoft YaHei"/>
                <a:ea typeface="Microsoft YaHei"/>
              </a:rPr>
              <a:t>02  LQCD 真实理论研究小时级加速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15967" y="2487167"/>
            <a:ext cx="3493007" cy="1764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1A1A1A"/>
                </a:solidFill>
                <a:latin typeface="Microsoft YaHei"/>
                <a:ea typeface="Microsoft YaHei"/>
              </a:rPr>
              <a:t>垂直科学 Agent 应打通「拟合-重整化-延拓」等学科流水线，并用与专家结果对齐的图线证据证明可信，而不只做文献问答。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• 面向高能物理格点量子色动力学（LQCD），从准 TMD 波函数提取 Collins-Soper kernel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• 自动完成拟合、重整化、延拓等多步复杂流程，并由领域专家背书验证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• 从工程加速走向驱动科学发现：验证全 b⊥ 联合拟合模型有效性，扩展提取范围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01582" y="2084831"/>
            <a:ext cx="3749039" cy="2267712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598" y="2176271"/>
            <a:ext cx="3493007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8B1A2B"/>
                </a:solidFill>
                <a:latin typeface="Microsoft YaHei"/>
                <a:ea typeface="Microsoft YaHei"/>
              </a:rPr>
              <a:t>03  区分奥赛能力与研究能力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598" y="2487167"/>
            <a:ext cx="3493007" cy="1764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1A1A1A"/>
                </a:solidFill>
                <a:latin typeface="Microsoft YaHei"/>
                <a:ea typeface="Microsoft YaHei"/>
              </a:rPr>
              <a:t>科学后训练数据飞轮必须解决「高难度可规模化」供给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• 发布面向物理/化学/生物专家级推理的 FrontierScience Benchmark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• 拆分 Olympiad 与 Research 两档：竞赛解题能力上升快，真实研究能力仍显著落后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• 提出高质量科学数据四大要求：正确、难度大、规模化、多样化；任务越难，可出题解题的人越少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4320" y="4553712"/>
            <a:ext cx="7315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A1A1A"/>
                </a:solidFill>
                <a:latin typeface="Microsoft YaHei"/>
                <a:ea typeface="Microsoft YaHei"/>
              </a:rPr>
              <a:t>关键指标对比与提升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74320" y="4809744"/>
            <a:ext cx="1874519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65760" y="4864608"/>
            <a:ext cx="1709927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latin typeface="Microsoft YaHei"/>
                <a:ea typeface="Microsoft YaHei"/>
              </a:rPr>
              <a:t>定位澄清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5065776"/>
            <a:ext cx="1709927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A4A4A"/>
                </a:solidFill>
                <a:latin typeface="Microsoft YaHei"/>
                <a:ea typeface="Microsoft YaHei"/>
              </a:rPr>
              <a:t>核心口径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60" y="5340096"/>
            <a:ext cx="170992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8B1A2B"/>
                </a:solidFill>
                <a:latin typeface="Microsoft YaHei"/>
                <a:ea typeface="Microsoft YaHei"/>
              </a:rPr>
              <a:t>强调 Auto-Research 覆盖面更广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240279" y="4809744"/>
            <a:ext cx="1874519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331719" y="4864608"/>
            <a:ext cx="1709927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latin typeface="Microsoft YaHei"/>
                <a:ea typeface="Microsoft YaHei"/>
              </a:rPr>
              <a:t>SciMaster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331719" y="5065776"/>
            <a:ext cx="1709927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A4A4A"/>
                </a:solidFill>
                <a:latin typeface="Microsoft YaHei"/>
                <a:ea typeface="Microsoft YaHei"/>
              </a:rPr>
              <a:t>演讲口径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331719" y="5340096"/>
            <a:ext cx="170992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8B1A2B"/>
                </a:solidFill>
                <a:latin typeface="Microsoft YaHei"/>
                <a:ea typeface="Microsoft YaHei"/>
              </a:rPr>
              <a:t>SciMaster 约 6 小时得到原先 1~3 个月严谨计算结果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206238" y="4809744"/>
            <a:ext cx="1874519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297678" y="4864608"/>
            <a:ext cx="1709927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latin typeface="Microsoft YaHei"/>
                <a:ea typeface="Microsoft YaHei"/>
              </a:rPr>
              <a:t>SciMaster·2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297678" y="5065776"/>
            <a:ext cx="1709927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A4A4A"/>
                </a:solidFill>
                <a:latin typeface="Microsoft YaHei"/>
                <a:ea typeface="Microsoft YaHei"/>
              </a:rPr>
              <a:t>演讲口径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97678" y="5340096"/>
            <a:ext cx="170992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8B1A2B"/>
                </a:solidFill>
                <a:latin typeface="Microsoft YaHei"/>
                <a:ea typeface="Microsoft YaHei"/>
              </a:rPr>
              <a:t>Collins-Soper kernel 提取范围扩展至 b⊥=1 fm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172197" y="4809744"/>
            <a:ext cx="1874519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263637" y="4864608"/>
            <a:ext cx="1709927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latin typeface="Microsoft YaHei"/>
                <a:ea typeface="Microsoft YaHei"/>
              </a:rPr>
              <a:t>SciMaster·3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263637" y="5065776"/>
            <a:ext cx="1709927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A4A4A"/>
                </a:solidFill>
                <a:latin typeface="Microsoft YaHei"/>
                <a:ea typeface="Microsoft YaHei"/>
              </a:rPr>
              <a:t>演讲口径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263637" y="5340096"/>
            <a:ext cx="170992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8B1A2B"/>
                </a:solidFill>
                <a:latin typeface="Microsoft YaHei"/>
                <a:ea typeface="Microsoft YaHei"/>
              </a:rPr>
              <a:t>相对传统周期约 120x~360x 加速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138156" y="4809744"/>
            <a:ext cx="1874519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229596" y="4864608"/>
            <a:ext cx="1709927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latin typeface="Microsoft YaHei"/>
                <a:ea typeface="Microsoft YaHei"/>
              </a:rPr>
              <a:t>区分奥赛能力与研究能力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29596" y="5065776"/>
            <a:ext cx="1709927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A4A4A"/>
                </a:solidFill>
                <a:latin typeface="Microsoft YaHei"/>
                <a:ea typeface="Microsoft YaHei"/>
              </a:rPr>
              <a:t>演讲口径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29596" y="5340096"/>
            <a:ext cx="170992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8B1A2B"/>
                </a:solidFill>
                <a:latin typeface="Microsoft YaHei"/>
                <a:ea typeface="Microsoft YaHei"/>
              </a:rPr>
              <a:t>Olympiad 顶尖约 77.1%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0104115" y="4809744"/>
            <a:ext cx="1874519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195555" y="4864608"/>
            <a:ext cx="1709927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latin typeface="Microsoft YaHei"/>
                <a:ea typeface="Microsoft YaHei"/>
              </a:rPr>
              <a:t>区分奥赛能力与研究能力·2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195555" y="5065776"/>
            <a:ext cx="1709927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A4A4A"/>
                </a:solidFill>
                <a:latin typeface="Microsoft YaHei"/>
                <a:ea typeface="Microsoft YaHei"/>
              </a:rPr>
              <a:t>演讲口径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195555" y="5340096"/>
            <a:ext cx="170992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8B1A2B"/>
                </a:solidFill>
                <a:latin typeface="Microsoft YaHei"/>
                <a:ea typeface="Microsoft YaHei"/>
              </a:rPr>
              <a:t>Research 顶尖约 25.2%</a:t>
            </a:r>
          </a:p>
        </p:txBody>
      </p:sp>
      <p:sp>
        <p:nvSpPr>
          <p:cNvPr id="42" name="Rectangle 41"/>
          <p:cNvSpPr/>
          <p:nvPr/>
        </p:nvSpPr>
        <p:spPr>
          <a:xfrm>
            <a:off x="0" y="5870448"/>
            <a:ext cx="12191695" cy="9875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20040" y="5943600"/>
            <a:ext cx="115214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A1A1A"/>
                </a:solidFill>
                <a:latin typeface="Microsoft YaHei"/>
                <a:ea typeface="Microsoft YaHei"/>
              </a:rPr>
              <a:t>可落地动作：科学后训练的价值在于把 AI 嵌入真实理论计算与科研协作，而非停留在通用对话能力；用 FrontierScience 等研究级评测牵引数据与训练，才能缩小「会考试」与「会研究」的鸿沟；友商可借鉴「中等参数 + 强后训练 + 多 Agent 科研环境」路线，在垂直科学场景形成差异化。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20040" y="6437376"/>
            <a:ext cx="11521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B6B6B"/>
                </a:solidFill>
                <a:latin typeface="Microsoft YaHei"/>
                <a:ea typeface="Microsoft YaHei"/>
              </a:rPr>
              <a:t>来源：https://yunqi.aliyun.com/2026/session?agendaId=123 · Talk 04 张林峰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46304"/>
            <a:ext cx="11430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B6B6B"/>
                </a:solidFill>
                <a:latin typeface="Microsoft YaHei"/>
                <a:ea typeface="Microsoft YaHei"/>
              </a:rPr>
              <a:t>04 · 张林峰 · 无尽前延（Endless Frontier）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384048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A1A1A"/>
                </a:solidFill>
                <a:latin typeface="Microsoft YaHei"/>
                <a:ea typeface="Microsoft YaHei"/>
              </a:rPr>
              <a:t>数据佐证｜官方回放截图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1051560"/>
            <a:ext cx="3716426" cy="5074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29768" y="1143000"/>
            <a:ext cx="349697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8B1A2B"/>
                </a:solidFill>
                <a:latin typeface="Microsoft YaHei"/>
                <a:ea typeface="Microsoft YaHei"/>
              </a:rPr>
              <a:t>定位澄清</a:t>
            </a:r>
          </a:p>
        </p:txBody>
      </p:sp>
      <p:pic>
        <p:nvPicPr>
          <p:cNvPr id="8" name="Picture 7" descr="t01-16-00-cr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9768" y="1946380"/>
            <a:ext cx="3496970" cy="2965239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29768" y="5486400"/>
            <a:ext cx="349697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定位澄清：Auto-Research 包含但不是 AI4AI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37634" y="1051560"/>
            <a:ext cx="3716426" cy="5074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47362" y="1143000"/>
            <a:ext cx="349697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8B1A2B"/>
                </a:solidFill>
                <a:latin typeface="Microsoft YaHei"/>
                <a:ea typeface="Microsoft YaHei"/>
              </a:rPr>
              <a:t>SciMaster 约 6 小时得到原先 1~3 个月严谨计算结果 · Collins-Soper kernel 提取范围扩展至 b⊥=1 fm</a:t>
            </a:r>
          </a:p>
        </p:txBody>
      </p:sp>
      <p:pic>
        <p:nvPicPr>
          <p:cNvPr id="12" name="Picture 11" descr="t01-18-00-cro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47362" y="1946380"/>
            <a:ext cx="3496970" cy="2965239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347362" y="5486400"/>
            <a:ext cx="349697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SciMaster：LQCD 真实理论研究小时级加速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55228" y="1051560"/>
            <a:ext cx="3716426" cy="5074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64956" y="1143000"/>
            <a:ext cx="349697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8B1A2B"/>
                </a:solidFill>
                <a:latin typeface="Microsoft YaHei"/>
                <a:ea typeface="Microsoft YaHei"/>
              </a:rPr>
              <a:t>Olympiad 顶尖约 77.1% · Research 顶尖约 25.2%</a:t>
            </a:r>
          </a:p>
        </p:txBody>
      </p:sp>
      <p:pic>
        <p:nvPicPr>
          <p:cNvPr id="16" name="Picture 15" descr="t01-22-00-cro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64956" y="1946380"/>
            <a:ext cx="3496970" cy="2965239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8264956" y="5486400"/>
            <a:ext cx="349697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FrontierScience：区分奥赛能力与研究能力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6355080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latin typeface="Microsoft YaHei"/>
                <a:ea typeface="Microsoft YaHei"/>
              </a:rPr>
              <a:t>截图裁自云栖大会官方回放幻灯主体，作指标与结论佐证。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